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1a9222ca8d42a8" /><Relationship Type="http://schemas.openxmlformats.org/officeDocument/2006/relationships/extended-properties" Target="/docProps/app.xml" Id="R11e4db0545564b53" /><Relationship Type="http://schemas.openxmlformats.org/officeDocument/2006/relationships/officeDocument" Target="/ppt/presentation.xml" Id="Re6ebc0c4e9f741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a7bf33aa454e5c"/>
  </p:sldMasterIdLst>
  <p:notesMasterIdLst>
    <p:notesMasterId xmlns:r="http://schemas.openxmlformats.org/officeDocument/2006/relationships" r:id="R84979824226b48fc"/>
  </p:notesMasterIdLst>
  <p:sldIdLst>
    <p:sldId xmlns:r="http://schemas.openxmlformats.org/officeDocument/2006/relationships" id="256" r:id="R2c955718dde04ad0"/>
    <p:sldId xmlns:r="http://schemas.openxmlformats.org/officeDocument/2006/relationships" id="257" r:id="R869f99a228f94d98"/>
    <p:sldId xmlns:r="http://schemas.openxmlformats.org/officeDocument/2006/relationships" id="258" r:id="R78d5a8934be7467a"/>
    <p:sldId xmlns:r="http://schemas.openxmlformats.org/officeDocument/2006/relationships" id="259" r:id="R6f26b297970f47c5"/>
    <p:sldId xmlns:r="http://schemas.openxmlformats.org/officeDocument/2006/relationships" id="260" r:id="Re6200fd5acdc4b3a"/>
    <p:sldId xmlns:r="http://schemas.openxmlformats.org/officeDocument/2006/relationships" id="261" r:id="R90fbb721f1314339"/>
    <p:sldId xmlns:r="http://schemas.openxmlformats.org/officeDocument/2006/relationships" id="262" r:id="Rd139bac7e5b243a5"/>
    <p:sldId xmlns:r="http://schemas.openxmlformats.org/officeDocument/2006/relationships" id="263" r:id="R4d283104b8b24f4e"/>
    <p:sldId xmlns:r="http://schemas.openxmlformats.org/officeDocument/2006/relationships" id="264" r:id="Ra257ddeaa340410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376006170a493f" /><Relationship Type="http://schemas.openxmlformats.org/officeDocument/2006/relationships/slideMaster" Target="/ppt/slideMasters/slideMaster1.xml" Id="R8da7bf33aa454e5c" /><Relationship Type="http://schemas.openxmlformats.org/officeDocument/2006/relationships/notesMaster" Target="/ppt/notesMasters/notesMaster1.xml" Id="R84979824226b48fc" /><Relationship Type="http://schemas.openxmlformats.org/officeDocument/2006/relationships/presProps" Target="/ppt/presProps.xml" Id="R2ec24cc9156846a3" /><Relationship Type="http://schemas.openxmlformats.org/officeDocument/2006/relationships/tableStyles" Target="/ppt/tableStyles.xml" Id="R7fc4765dea2a40c5" /><Relationship Type="http://schemas.openxmlformats.org/officeDocument/2006/relationships/slide" Target="/ppt/slides/slide1.xml" Id="R2c955718dde04ad0" /><Relationship Type="http://schemas.openxmlformats.org/officeDocument/2006/relationships/slide" Target="/ppt/slides/slide2.xml" Id="R869f99a228f94d98" /><Relationship Type="http://schemas.openxmlformats.org/officeDocument/2006/relationships/slide" Target="/ppt/slides/slide3.xml" Id="R78d5a8934be7467a" /><Relationship Type="http://schemas.openxmlformats.org/officeDocument/2006/relationships/slide" Target="/ppt/slides/slide4.xml" Id="R6f26b297970f47c5" /><Relationship Type="http://schemas.openxmlformats.org/officeDocument/2006/relationships/slide" Target="/ppt/slides/slide5.xml" Id="Re6200fd5acdc4b3a" /><Relationship Type="http://schemas.openxmlformats.org/officeDocument/2006/relationships/slide" Target="/ppt/slides/slide6.xml" Id="R90fbb721f1314339" /><Relationship Type="http://schemas.openxmlformats.org/officeDocument/2006/relationships/slide" Target="/ppt/slides/slide7.xml" Id="Rd139bac7e5b243a5" /><Relationship Type="http://schemas.openxmlformats.org/officeDocument/2006/relationships/slide" Target="/ppt/slides/slide8.xml" Id="R4d283104b8b24f4e" /><Relationship Type="http://schemas.openxmlformats.org/officeDocument/2006/relationships/slide" Target="/ppt/slides/slide9.xml" Id="Ra257ddeaa34041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8965dd8fb04a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a82359423240a7" /><Relationship Type="http://schemas.openxmlformats.org/officeDocument/2006/relationships/notesMaster" Target="/ppt/notesMasters/notesMaster1.xml" Id="R2d2999c1aa0840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5327fabc900450e" /><Relationship Type="http://schemas.openxmlformats.org/officeDocument/2006/relationships/notesMaster" Target="/ppt/notesMasters/notesMaster1.xml" Id="R818251e19b4a43a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015be8bc99a43df" /><Relationship Type="http://schemas.openxmlformats.org/officeDocument/2006/relationships/notesMaster" Target="/ppt/notesMasters/notesMaster1.xml" Id="R9845ccfba20648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cb0e7cb681047eb" /><Relationship Type="http://schemas.openxmlformats.org/officeDocument/2006/relationships/notesMaster" Target="/ppt/notesMasters/notesMaster1.xml" Id="R782e795916504a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c7dddf226584415" /><Relationship Type="http://schemas.openxmlformats.org/officeDocument/2006/relationships/notesMaster" Target="/ppt/notesMasters/notesMaster1.xml" Id="R25efdb364a5c491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d099bfd5cb543c1" /><Relationship Type="http://schemas.openxmlformats.org/officeDocument/2006/relationships/notesMaster" Target="/ppt/notesMasters/notesMaster1.xml" Id="R9b3bfee943534d4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b53e626ad214586" /><Relationship Type="http://schemas.openxmlformats.org/officeDocument/2006/relationships/notesMaster" Target="/ppt/notesMasters/notesMaster1.xml" Id="Rb766227b3a2d4f4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49bdf459db64f63" /><Relationship Type="http://schemas.openxmlformats.org/officeDocument/2006/relationships/notesMaster" Target="/ppt/notesMasters/notesMaster1.xml" Id="R1b8d958b0c03417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a83563bf00d4b77" /><Relationship Type="http://schemas.openxmlformats.org/officeDocument/2006/relationships/notesMaster" Target="/ppt/notesMasters/notesMaster1.xml" Id="R4e3e53557aa34c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docs/STATUS.md, docs/task-results/PM-001.md–PM-004.md. PM-002 принят в Web-объёме по решению владельца отложить Android. Продукт ещё не готов.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docs/task-results/PM-001.md, PM-002.md, PM-003.md, PM-004.md. Готовность относится к результату конкретной задачи, не ко всему приложению.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изображения: docs/task-results/assets/PM-003/catalog-request.png. Данные и действие синтетические. Прототип PM-003, не рабочая покупка. Сценарии: docs/DESIGN.md.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mobile-channels.png и widget-private.png в docs/task-results/assets/PM-003/. HTML-прототип. Реальное устройство и Android widget отложены владельцем.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docs/ARCHITECTURE.md и ADR-0001–0003. Зелёный: готовая спецификация. Синий: проверенный прототип. Серый: запланированный runtime. Все соединения показывают целевую архитектуру, не действующую интеграцию.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docs/api/PROTOCOL.md, contracts/reference_model.py, contracts/tests/test_protocol.py. Модель поведения проверена. Durable commit, гонки и восстановление реального PostgreSQL проверяются в PM-010/012.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design/prototype/prototype.js, contracts/build_contract.py, contracts/reference_model.py, docs/ARCHITECTURE.md. User/Session, Bot/Key, Channel/Grant, ActionRequest/BotEvent и SharedTemplate пока описаны контрактом, не таблицами работающей БД.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docs/task-results/PM-001.md–PM-004.md, assets/PM-003/contrast.json, assets/PM-004/verification.json. 1000 сообщений/мин и p95&lt;=3с являются целями PM-022, не результатами текущего этапа.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docs/ROADMAP.md, задачи PM-005–008. Начать после ответов G01 либо явного разрешения продолжить с записанными допущениями. Docker отсутствует в текущей среде, его проверка остаётся обязательной перед поставкой.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acacbb02164cc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dbc773ff6a474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a9756093064ab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4cb16c48a9461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d00e82ae0241d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aa831fd0b2415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9C57488-38F4-4853-B95F-A21FC608F0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361EE83-7682-493E-B975-E418DA4B0A8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75930C8-D135-450C-9EC3-9FFB08870E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6EC3D48-7E6C-420B-8532-574826EFCE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F435DB5-B21C-4BC8-AD61-E23A0284F2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BD9AE35-2579-4D3B-A518-213B279D44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5A6A73B-C6A6-4123-A4E4-74072C9CE1C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695772D-C329-4838-8329-F2B5D4357F9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91E0322-9904-4D2A-AC53-434E73348E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C63CFBB-1EDC-46EE-8BA3-1FBA2D3D7D5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84f4e7bfc34dd1" /><Relationship Type="http://schemas.openxmlformats.org/officeDocument/2006/relationships/slideLayout" Target="/ppt/slideLayouts/slideLayout1.xml" Id="R2b2be8a49d1043f8" /><Relationship Type="http://schemas.openxmlformats.org/officeDocument/2006/relationships/slideLayout" Target="/ppt/slideLayouts/slideLayout2.xml" Id="R48e5c417785a4096" /><Relationship Type="http://schemas.openxmlformats.org/officeDocument/2006/relationships/slideLayout" Target="/ppt/slideLayouts/slideLayout3.xml" Id="R529089c0dd1747e0" /><Relationship Type="http://schemas.openxmlformats.org/officeDocument/2006/relationships/slideLayout" Target="/ppt/slideLayouts/slideLayout4.xml" Id="R8540708a10614cf6" /><Relationship Type="http://schemas.openxmlformats.org/officeDocument/2006/relationships/slideLayout" Target="/ppt/slideLayouts/slideLayout5.xml" Id="Raf1d9b9797174977" /><Relationship Type="http://schemas.openxmlformats.org/officeDocument/2006/relationships/slideLayout" Target="/ppt/slideLayouts/slideLayout6.xml" Id="Rb43e7b94e0a34f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2be8a49d1043f8"/>
    <p:sldLayoutId xmlns:r="http://schemas.openxmlformats.org/officeDocument/2006/relationships" id="2147483650" r:id="R48e5c417785a4096"/>
    <p:sldLayoutId xmlns:r="http://schemas.openxmlformats.org/officeDocument/2006/relationships" id="2147483651" r:id="R529089c0dd1747e0"/>
    <p:sldLayoutId xmlns:r="http://schemas.openxmlformats.org/officeDocument/2006/relationships" id="2147483652" r:id="R8540708a10614cf6"/>
    <p:sldLayoutId xmlns:r="http://schemas.openxmlformats.org/officeDocument/2006/relationships" id="2147483653" r:id="Raf1d9b9797174977"/>
    <p:sldLayoutId xmlns:r="http://schemas.openxmlformats.org/officeDocument/2006/relationships" id="2147483654" r:id="Rb43e7b94e0a34f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691cbc33cf4b37" /><Relationship Type="http://schemas.openxmlformats.org/officeDocument/2006/relationships/notesSlide" Target="/ppt/notesSlides/notesSlide1.xml" Id="R755eb57e9f5e4a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8c2e7c056d4083" /><Relationship Type="http://schemas.openxmlformats.org/officeDocument/2006/relationships/notesSlide" Target="/ppt/notesSlides/notesSlide2.xml" Id="Re9bc01eba25047c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19d8b0392c4d05" /><Relationship Type="http://schemas.openxmlformats.org/officeDocument/2006/relationships/image" Target="/ppt/media/image.jpeg" Id="R9269b4ab32974bd9" /><Relationship Type="http://schemas.openxmlformats.org/officeDocument/2006/relationships/notesSlide" Target="/ppt/notesSlides/notesSlide3.xml" Id="R8fdbdb6b254144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33b31d6b654b1b" /><Relationship Type="http://schemas.openxmlformats.org/officeDocument/2006/relationships/image" Target="/ppt/media/image2.jpeg" Id="R2c92e7b9a22c430b" /><Relationship Type="http://schemas.openxmlformats.org/officeDocument/2006/relationships/image" Target="/ppt/media/image3.jpeg" Id="Rcbb57380a63d4f9c" /><Relationship Type="http://schemas.openxmlformats.org/officeDocument/2006/relationships/notesSlide" Target="/ppt/notesSlides/notesSlide4.xml" Id="R46d23f01abc74cd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b4c5614c564c85" /><Relationship Type="http://schemas.openxmlformats.org/officeDocument/2006/relationships/notesSlide" Target="/ppt/notesSlides/notesSlide5.xml" Id="R92f9158a1d6d44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151a0db3d74415" /><Relationship Type="http://schemas.openxmlformats.org/officeDocument/2006/relationships/notesSlide" Target="/ppt/notesSlides/notesSlide6.xml" Id="R5cb60cd5c9e845b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a736cb30dd4e57" /><Relationship Type="http://schemas.openxmlformats.org/officeDocument/2006/relationships/notesSlide" Target="/ppt/notesSlides/notesSlide7.xml" Id="R8669c2c35f2c45d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fbe9222c6f42e6" /><Relationship Type="http://schemas.openxmlformats.org/officeDocument/2006/relationships/notesSlide" Target="/ppt/notesSlides/notesSlide8.xml" Id="Reeae3faf6066401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64966a0d6f492c" /><Relationship Type="http://schemas.openxmlformats.org/officeDocument/2006/relationships/notesSlide" Target="/ppt/notesSlides/notesSlide9.xml" Id="Ra3067f650491414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468B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148712-663A-470F-9125-D20AD565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MarkeTOB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42FD39-76E2-4A92-AE4B-4C1E7BAD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14625"/>
            <a:ext cx="10191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3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3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3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3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3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3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3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3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3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Локальный пилот</a:t>
            </a:r>
          </a:p>
          <a:p xmlns:a="http://schemas.openxmlformats.org/drawingml/2006/main">
            <a:pPr>
              <a:defRPr sz="33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Контрольная точка G01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7D9D84-4F49-4971-BA67-44F6ECC10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1019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PM-001–004 завершены в зафиксированном объёме</a:t>
            </a:r>
          </a:p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21 октября 2026</a:t>
            </a:r>
          </a:p>
        </p:txBody>
      </p:sp>
    </p:spTree>
    <p:extLst>
      <p:ext uri="{BB962C8B-B14F-4D97-AF65-F5344CB8AC3E}">
        <p14:creationId xmlns:p14="http://schemas.microsoft.com/office/powerpoint/2010/main" val="240392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BF5BB6-06E6-4F43-9907-8B167E1F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Результаты первых четырёх задач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B1E97C-D3E9-439D-A083-D4B8B9AF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77F"/>
                </a:solidFill>
                <a:latin typeface="Arial"/>
                <a:ea typeface="Arial"/>
                <a:cs typeface="Arial"/>
              </a:rPr>
              <a:t>2 / 9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6BE62F-E372-4967-97F5-69F6DF6CF7BB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581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62125"/>
                <a:gridCol w="4333875"/>
                <a:gridCol w="4876800"/>
              </a:tblGrid>
              <a:tr h="7162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Задача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T w="9525">
                      <a:solidFill>
                        <a:srgbClr val="D5DFEB"/>
                      </a:solidFill>
                      <a:prstDash val="solid"/>
                    </a:lnT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2468B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Результат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T w="9525">
                      <a:solidFill>
                        <a:srgbClr val="D5DFEB"/>
                      </a:solidFill>
                      <a:prstDash val="solid"/>
                    </a:lnT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2468B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Граница готовности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T w="9525">
                      <a:solidFill>
                        <a:srgbClr val="D5DFEB"/>
                      </a:solidFill>
                      <a:prstDash val="solid"/>
                    </a:lnT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2468BC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PM-001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30 требований, 16 историй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Требования и цели проверки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PM-002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Web-стек и архитектура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Android проверим позже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PM-003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Интерактивный UX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Демонстрационные данные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PM-004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64 схемы, 44 операции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Спецификация API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89A368-D022-4A95-8FD0-0712F70A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825414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825414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825414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825414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825414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825414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825414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825414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825414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82541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82541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825414"/>
                </a:solidFill>
                <a:latin typeface="Arial"/>
                <a:ea typeface="Arial"/>
                <a:cs typeface="Arial"/>
              </a:rPr>
              <a:t>Продуктовый backend, Docker-образ и APK ещё предстоит создать.</a:t>
            </a:r>
          </a:p>
        </p:txBody>
      </p:sp>
    </p:spTree>
    <p:extLst>
      <p:ext uri="{BB962C8B-B14F-4D97-AF65-F5344CB8AC3E}">
        <p14:creationId xmlns:p14="http://schemas.microsoft.com/office/powerpoint/2010/main" val="17008982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B56EA3-B22E-48B1-8035-5BB3A741F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Каталог и статус заявки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5CDF26-350B-4922-ADBF-2E3B0E5D4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77F"/>
                </a:solidFill>
                <a:latin typeface="Arial"/>
                <a:ea typeface="Arial"/>
                <a:cs typeface="Arial"/>
              </a:rPr>
              <a:t>3 /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E58248-4A89-4204-9D50-932DAE92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4048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Пользователь сохраняет канал и отправляет заявку боту.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1FC0FB-46E1-4CD9-9FC1-CD8D35DB4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395287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Request sent показывает очередь.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Confirmed появляется после результата бота.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View request открывает существующую заявку.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6CC951-4AC7-471A-B824-82BD1485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4048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77F"/>
                </a:solidFill>
                <a:latin typeface="Arial"/>
                <a:ea typeface="Arial"/>
                <a:cs typeface="Arial"/>
              </a:rPr>
              <a:t>Макет с demo-данными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871228-4406-4D8B-ACCC-3B378C1F86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69b4ab32974bd9"/>
          <a:stretch xmlns:a="http://schemas.openxmlformats.org/drawingml/2006/main"/>
        </p:blipFill>
        <p:spPr>
          <a:xfrm xmlns:a="http://schemas.openxmlformats.org/drawingml/2006/main">
            <a:off x="5456748" y="1295400"/>
            <a:ext cx="5660004" cy="495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0536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2072C0-2BE6-4B2C-9251-E1101B2D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Мобильная навигация и закрытый источник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343E0D-2B50-4B6D-9290-9D4239512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77F"/>
                </a:solidFill>
                <a:latin typeface="Arial"/>
                <a:ea typeface="Arial"/>
                <a:cs typeface="Arial"/>
              </a:rPr>
              <a:t>4 / 9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69BB79-62FD-4C6A-80BE-F331E1CFCB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92e7b9a22c430b"/>
          <a:stretch xmlns:a="http://schemas.openxmlformats.org/drawingml/2006/main"/>
        </p:blipFill>
        <p:spPr>
          <a:xfrm xmlns:a="http://schemas.openxmlformats.org/drawingml/2006/main">
            <a:off x="916781" y="1428750"/>
            <a:ext cx="2100263" cy="4667250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9FD059-370B-459D-9128-E878AB7FA2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b57380a63d4f9c"/>
          <a:stretch xmlns:a="http://schemas.openxmlformats.org/drawingml/2006/main"/>
        </p:blipFill>
        <p:spPr>
          <a:xfrm xmlns:a="http://schemas.openxmlformats.org/drawingml/2006/main">
            <a:off x="4155936" y="1428750"/>
            <a:ext cx="1737002" cy="4667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E50FF4-9F8E-46B3-9188-0B172DE5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66875"/>
            <a:ext cx="45243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На телефоне список каналов и содержимое открываются последовательно.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5146F7-AE3B-40C2-815B-9E4D2667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38500"/>
            <a:ext cx="45243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Закрытый источник показывает Access required без новостных данных.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BEC621-442B-472A-B58F-7C3C5AF7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953000"/>
            <a:ext cx="4524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825414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825414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825414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825414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825414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825414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825414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825414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825414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82541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82541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825414"/>
                </a:solidFill>
                <a:latin typeface="Arial"/>
                <a:ea typeface="Arial"/>
                <a:cs typeface="Arial"/>
              </a:rPr>
              <a:t>Виджет пока представлен HTML-макетом. APK и USB-проверка отложены.</a:t>
            </a:r>
          </a:p>
        </p:txBody>
      </p:sp>
    </p:spTree>
    <p:extLst>
      <p:ext uri="{BB962C8B-B14F-4D97-AF65-F5344CB8AC3E}">
        <p14:creationId xmlns:p14="http://schemas.microsoft.com/office/powerpoint/2010/main" val="17000444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0C4D74-0278-4790-9DFA-1E8106910ED1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381875" y="2628900"/>
            <a:ext cx="1628775" cy="23050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3677F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E3D27B-E622-40A0-9589-93BEE9D0CCB5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6096000" y="3162300"/>
            <a:ext cx="0" cy="1238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77F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FFE68E-106D-4854-B511-420808E7187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381875" y="2628900"/>
            <a:ext cx="1628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77F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1D3910-8EA4-4763-8B9D-5E9D4359F742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181350" y="2628900"/>
            <a:ext cx="1628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77F"/>
            </a:solidFill>
            <a:tail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83A566-A24F-4355-9D97-BD57D07C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Система: готовность компонентов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E8FDA1-1BE9-429F-B489-91C954A3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77F"/>
                </a:solidFill>
                <a:latin typeface="Arial"/>
                <a:ea typeface="Arial"/>
                <a:cs typeface="Arial"/>
              </a:rPr>
              <a:t>5 /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22AE53-F800-46C0-B9B7-A7874F4F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77F"/>
                </a:solidFill>
                <a:latin typeface="Arial"/>
                <a:ea typeface="Arial"/>
                <a:cs typeface="Arial"/>
              </a:rPr>
              <a:t>Готово: контракт     Частично: клиентский прототип     Не сделано: runtime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A95857-1B97-4074-9A58-A1148A803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571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0"/>
          </a:solidFill>
          <a:ln xmlns:a="http://schemas.openxmlformats.org/drawingml/2006/main" w="9525">
            <a:solidFill>
              <a:srgbClr val="D5DFEB"/>
            </a:solidFill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1800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13247"/>
                </a:solidFill>
                <a:latin typeface="Arial"/>
                <a:ea typeface="Arial"/>
                <a:cs typeface="Arial"/>
              </a:rPr>
              <a:t>Python-боты</a:t>
            </a:r>
          </a:p>
          <a:p xmlns:a="http://schemas.openxmlformats.org/drawingml/2006/main">
            <a:pPr algn="ctr">
              <a:defRPr sz="180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13247"/>
                </a:solidFill>
                <a:latin typeface="Arial"/>
                <a:ea typeface="Arial"/>
                <a:cs typeface="Arial"/>
              </a:rPr>
              <a:t>не сделано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A1CAF0-E71D-4987-8E08-44A94A5BE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095500"/>
            <a:ext cx="2571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0"/>
          </a:solidFill>
          <a:ln xmlns:a="http://schemas.openxmlformats.org/drawingml/2006/main" w="9525">
            <a:solidFill>
              <a:srgbClr val="D5DFEB"/>
            </a:solidFill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1800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13247"/>
                </a:solidFill>
                <a:latin typeface="Arial"/>
                <a:ea typeface="Arial"/>
                <a:cs typeface="Arial"/>
              </a:rPr>
              <a:t>FastAPI</a:t>
            </a:r>
          </a:p>
          <a:p xmlns:a="http://schemas.openxmlformats.org/drawingml/2006/main">
            <a:pPr algn="ctr">
              <a:defRPr sz="180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13247"/>
                </a:solidFill>
                <a:latin typeface="Arial"/>
                <a:ea typeface="Arial"/>
                <a:cs typeface="Arial"/>
              </a:rPr>
              <a:t>не сделано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A1C302-B5AF-465D-AA42-9713B24A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95500"/>
            <a:ext cx="2571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D"/>
          </a:solidFill>
          <a:ln xmlns:a="http://schemas.openxmlformats.org/drawingml/2006/main" w="9525">
            <a:solidFill>
              <a:srgbClr val="D5DFEB"/>
            </a:solidFill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1800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13247"/>
                </a:solidFill>
                <a:latin typeface="Arial"/>
                <a:ea typeface="Arial"/>
                <a:cs typeface="Arial"/>
              </a:rPr>
              <a:t>Web UX</a:t>
            </a:r>
          </a:p>
          <a:p xmlns:a="http://schemas.openxmlformats.org/drawingml/2006/main">
            <a:pPr algn="ctr">
              <a:defRPr sz="180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13247"/>
                </a:solidFill>
                <a:latin typeface="Arial"/>
                <a:ea typeface="Arial"/>
                <a:cs typeface="Arial"/>
              </a:rPr>
              <a:t>частично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57341C-7CF6-406E-B6D3-64F19719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2571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1E8"/>
          </a:solidFill>
          <a:ln xmlns:a="http://schemas.openxmlformats.org/drawingml/2006/main" w="9525">
            <a:solidFill>
              <a:srgbClr val="D5DFEB"/>
            </a:solidFill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1800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13247"/>
                </a:solidFill>
                <a:latin typeface="Arial"/>
                <a:ea typeface="Arial"/>
                <a:cs typeface="Arial"/>
              </a:rPr>
              <a:t>Контракт 1.0</a:t>
            </a:r>
          </a:p>
          <a:p xmlns:a="http://schemas.openxmlformats.org/drawingml/2006/main">
            <a:pPr algn="ctr">
              <a:defRPr sz="180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13247"/>
                </a:solidFill>
                <a:latin typeface="Arial"/>
                <a:ea typeface="Arial"/>
                <a:cs typeface="Arial"/>
              </a:rPr>
              <a:t>готово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978AF8-7190-48F3-B05D-0E70D32B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400550"/>
            <a:ext cx="2571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0"/>
          </a:solidFill>
          <a:ln xmlns:a="http://schemas.openxmlformats.org/drawingml/2006/main" w="9525">
            <a:solidFill>
              <a:srgbClr val="D5DFEB"/>
            </a:solidFill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1800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13247"/>
                </a:solidFill>
                <a:latin typeface="Arial"/>
                <a:ea typeface="Arial"/>
                <a:cs typeface="Arial"/>
              </a:rPr>
              <a:t>PostgreSQL + worker</a:t>
            </a:r>
          </a:p>
          <a:p xmlns:a="http://schemas.openxmlformats.org/drawingml/2006/main">
            <a:pPr algn="ctr">
              <a:defRPr sz="180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13247"/>
                </a:solidFill>
                <a:latin typeface="Arial"/>
                <a:ea typeface="Arial"/>
                <a:cs typeface="Arial"/>
              </a:rPr>
              <a:t>не сделано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150665-D5A3-44FE-A338-C16EDAA89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400550"/>
            <a:ext cx="2571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0"/>
          </a:solidFill>
          <a:ln xmlns:a="http://schemas.openxmlformats.org/drawingml/2006/main" w="9525">
            <a:solidFill>
              <a:srgbClr val="D5DFEB"/>
            </a:solidFill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1800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13247"/>
                </a:solidFill>
                <a:latin typeface="Arial"/>
                <a:ea typeface="Arial"/>
                <a:cs typeface="Arial"/>
              </a:rPr>
              <a:t>Android + widget</a:t>
            </a:r>
          </a:p>
          <a:p xmlns:a="http://schemas.openxmlformats.org/drawingml/2006/main">
            <a:pPr algn="ctr">
              <a:defRPr sz="180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13247"/>
                </a:solidFill>
                <a:latin typeface="Arial"/>
                <a:ea typeface="Arial"/>
                <a:cs typeface="Arial"/>
              </a:rPr>
              <a:t>проверка отложена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59917C-6854-456F-B1E2-BB28E25E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57425"/>
            <a:ext cx="128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77F"/>
                </a:solidFill>
                <a:latin typeface="Arial"/>
                <a:ea typeface="Arial"/>
                <a:cs typeface="Arial"/>
              </a:rPr>
              <a:t>POST / GET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A76875-8CC0-4075-9074-7C91A3D2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57425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77F"/>
                </a:solidFill>
                <a:latin typeface="Arial"/>
                <a:ea typeface="Arial"/>
                <a:cs typeface="Arial"/>
              </a:rPr>
              <a:t>snapshots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84DE4B-BFA7-4EA1-BEE7-5F73D356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10906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Боты общаются через API. Доступ к таблицам БД им не предоставляется.</a:t>
            </a:r>
          </a:p>
        </p:txBody>
      </p:sp>
    </p:spTree>
    <p:extLst>
      <p:ext uri="{BB962C8B-B14F-4D97-AF65-F5344CB8AC3E}">
        <p14:creationId xmlns:p14="http://schemas.microsoft.com/office/powerpoint/2010/main" val="18559061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99992A-DFE0-4558-8027-36605876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Жизненный цикл действия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6D8DB9-C92A-4096-906D-5FA2F6772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77F"/>
                </a:solidFill>
                <a:latin typeface="Arial"/>
                <a:ea typeface="Arial"/>
                <a:cs typeface="Arial"/>
              </a:rPr>
              <a:t>6 /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C628B7-614E-4C21-8FAA-626FC46E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468B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7DEBC5-C212-4732-BFE1-60F2A2658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666875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Запись заявки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E53B0A-666B-4445-B721-A60F95A1D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181225"/>
            <a:ext cx="981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Сервер проверяет права, наличие товара и его revision.</a:t>
            </a:r>
          </a:p>
          <a:p xmlns:a="http://schemas.openxmlformats.org/drawingml/2006/main">
            <a: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Повтор с тем же ключом возвращает существующую заявку.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FF6E53-E16B-49C2-82EC-5D2B02D14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8025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468B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6796CD-5B68-4294-8B9B-B585E58A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38500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GET и 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4A242A-9D76-4DEE-91E6-3AE1676F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752850"/>
            <a:ext cx="981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GET допускает повторную доставку. Бот сохраняет событие</a:t>
            </a:r>
          </a:p>
          <a:p xmlns:a="http://schemas.openxmlformats.org/drawingml/2006/main">
            <a: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и подтверждает получение отдельным ACK.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2708EA-2BB8-4823-923E-91016ED12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468B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5D96A2-5E08-4F23-9E9D-01D81459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00600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Результат бота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145283-5D28-46E8-82C6-F831573A9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314950"/>
            <a:ext cx="981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Processing, Confirmed или Failed меняют бизнес-статус.</a:t>
            </a:r>
          </a:p>
          <a:p xmlns:a="http://schemas.openxmlformats.org/drawingml/2006/main">
            <a: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Неопределённый результат требует сверки, без новой покупки.</a:t>
            </a:r>
          </a:p>
        </p:txBody>
      </p:sp>
    </p:spTree>
    <p:extLst>
      <p:ext uri="{BB962C8B-B14F-4D97-AF65-F5344CB8AC3E}">
        <p14:creationId xmlns:p14="http://schemas.microsoft.com/office/powerpoint/2010/main" val="21192522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5D93D6-131E-4AEF-81A9-E022F7C3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Код, компоненты и сущности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C2CB4C-9EC5-42A6-962A-24E72779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77F"/>
                </a:solidFill>
                <a:latin typeface="Arial"/>
                <a:ea typeface="Arial"/>
                <a:cs typeface="Arial"/>
              </a:rPr>
              <a:t>7 / 9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3E42C3-F374-4975-98C3-5C0D63E29768}"/>
              </a:ext>
            </a:extLst>
          </p:cNvPr>
          <p:cNvGraphicFramePr/>
          <p:nvPr/>
        </p:nvGraphicFramePr>
        <p:xfrm>
          <a:off xmlns:a="http://schemas.openxmlformats.org/drawingml/2006/main" x="609600" y="148590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4191000"/>
                <a:gridCol w="3638550"/>
              </a:tblGrid>
              <a:tr h="6921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Файл / компонент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T w="9525">
                      <a:solidFill>
                        <a:srgbClr val="D5DFEB"/>
                      </a:solidFill>
                      <a:prstDash val="solid"/>
                    </a:lnT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2468B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Что делает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T w="9525">
                      <a:solidFill>
                        <a:srgbClr val="D5DFEB"/>
                      </a:solidFill>
                      <a:prstDash val="solid"/>
                    </a:lnT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2468B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Сущности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T w="9525">
                      <a:solidFill>
                        <a:srgbClr val="D5DFEB"/>
                      </a:solidFill>
                      <a:prstDash val="solid"/>
                    </a:lnT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2468BC"/>
                    </a:solidFill>
                  </a:tcPr>
                </a:tc>
              </a:tr>
              <a:tr h="6921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prototype.js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Переходы экранов в памяти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Channel, Block, My Space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21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build_contract.py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Генерирует OpenAPI и схемы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Message, Layout, Result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21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reference_model.py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Проверяет сценарии доставки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Request, Event, ACK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21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Identity / Registry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Следующий этап реализации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User, Session, Bot, Key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21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Pages / Sharing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Права и ссылки на источники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Channel, Grant, Template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4CAF3A-C0CE-4AFC-A4D1-CD6C8C55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77F"/>
                </a:solidFill>
                <a:latin typeface="Arial"/>
                <a:ea typeface="Arial"/>
                <a:cs typeface="Arial"/>
              </a:rPr>
              <a:t>Python используется для контракта, проверок и будущего backend.</a:t>
            </a:r>
          </a:p>
        </p:txBody>
      </p:sp>
    </p:spTree>
    <p:extLst>
      <p:ext uri="{BB962C8B-B14F-4D97-AF65-F5344CB8AC3E}">
        <p14:creationId xmlns:p14="http://schemas.microsoft.com/office/powerpoint/2010/main" val="18885357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F88858-67A1-4229-9CF8-CD29C6EA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Проверки и оставшиеся риски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1325BF-1AB9-4CE8-99A2-F222C957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77F"/>
                </a:solidFill>
                <a:latin typeface="Arial"/>
                <a:ea typeface="Arial"/>
                <a:cs typeface="Arial"/>
              </a:rPr>
              <a:t>8 /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8BB5DF-92D2-4CB3-A35F-7C6DD66D4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E7659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E7659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E7659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E7659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E7659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E7659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E7659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E7659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E7659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E76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E765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E7659"/>
                </a:solidFill>
                <a:latin typeface="Arial"/>
                <a:ea typeface="Arial"/>
                <a:cs typeface="Arial"/>
              </a:rPr>
              <a:t>Проверено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68EC43-0D33-47E3-864E-F819CDF4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5143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25 контрактных тестов прошли.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12 цветовых пар прошли проверку.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Desktop и mobile UX пройдены.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Web-spike открывается offline.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06CAB2-E1D3-44DB-9354-EBB3FDB26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524000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825414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825414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825414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825414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825414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825414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825414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825414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825414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82541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82541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825414"/>
                </a:solidFill>
                <a:latin typeface="Arial"/>
                <a:ea typeface="Arial"/>
                <a:cs typeface="Arial"/>
              </a:rPr>
              <a:t>Проверить при реализации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BD1CCA-A0B7-4657-864A-64E4DBAE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66950"/>
            <a:ext cx="5048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SQL-транзакции и реальные права.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Падение API/worker и восстановление.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APK, устройство и домашний виджет.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Нагрузка 1 000 сообщений/мин.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CB31F0-F07B-4F3D-847A-F0F0D9C2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77F"/>
                </a:solidFill>
                <a:latin typeface="Arial"/>
                <a:ea typeface="Arial"/>
                <a:cs typeface="Arial"/>
              </a:rPr>
              <a:t>Цели производительности ещё не измерены. Google и облачный push отложены.</a:t>
            </a:r>
          </a:p>
        </p:txBody>
      </p:sp>
    </p:spTree>
    <p:extLst>
      <p:ext uri="{BB962C8B-B14F-4D97-AF65-F5344CB8AC3E}">
        <p14:creationId xmlns:p14="http://schemas.microsoft.com/office/powerpoint/2010/main" val="18319200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053E26-4D39-4278-A0A0-367054553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Следующий этап: основа backend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0AA94A-8FE1-4608-A9AB-B3486533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77F"/>
                </a:solidFill>
                <a:latin typeface="Arial"/>
                <a:ea typeface="Arial"/>
                <a:cs typeface="Arial"/>
              </a:rPr>
              <a:t>9 / 9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B961E4-9C22-4389-ABEE-8AAF076D0EA9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66875"/>
                <a:gridCol w="4476750"/>
                <a:gridCol w="4829175"/>
              </a:tblGrid>
              <a:tr h="6953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Порядок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T w="9525">
                      <a:solidFill>
                        <a:srgbClr val="D5DFEB"/>
                      </a:solidFill>
                      <a:prstDash val="solid"/>
                    </a:lnT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2468B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Задача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T w="9525">
                      <a:solidFill>
                        <a:srgbClr val="D5DFEB"/>
                      </a:solidFill>
                      <a:prstDash val="solid"/>
                    </a:lnT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2468B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Зачем сейчас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T w="9525">
                      <a:solidFill>
                        <a:srgbClr val="D5DFEB"/>
                      </a:solidFill>
                      <a:prstDash val="solid"/>
                    </a:lnT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2468BC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PM-005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Окружение и CI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Воспроизводимый запуск и проверки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PM-006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Локальные сессии и права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Отделить пользователей и источники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PM-007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Боты и индивидуальные ключи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Разрешить безопасное подключение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PM-008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Приём и хранение сообщений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Получить первые реальные snapshots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3BD85C-3406-4A93-BE61-A2421B16A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68BC"/>
                </a:solidFill>
                <a:latin typeface="Arial"/>
                <a:ea typeface="Arial"/>
                <a:cs typeface="Arial"/>
              </a:rPr>
              <a:t>До PM-005 нужны ответы на вопросы G01.</a:t>
            </a:r>
          </a:p>
          <a:p xmlns:a="http://schemas.openxmlformats.org/drawingml/2006/main">
            <a:pPr>
              <a:defRPr sz="22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68BC"/>
                </a:solidFill>
                <a:latin typeface="Arial"/>
                <a:ea typeface="Arial"/>
                <a:cs typeface="Arial"/>
              </a:rPr>
              <a:t>После PM-008 проведём следующую презентацию.</a:t>
            </a:r>
          </a:p>
        </p:txBody>
      </p:sp>
    </p:spTree>
    <p:extLst>
      <p:ext uri="{BB962C8B-B14F-4D97-AF65-F5344CB8AC3E}">
        <p14:creationId xmlns:p14="http://schemas.microsoft.com/office/powerpoint/2010/main" val="10800854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2026-10-21T21:25:44.6460000Z</dcterms:created>
  <dcterms:modified xsi:type="dcterms:W3CDTF">2026-10-21T21:25:44.6480000Z</dcterms:modified>
</coreProperties>
</file>