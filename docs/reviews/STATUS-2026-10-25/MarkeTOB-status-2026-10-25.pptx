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dd4619d8fc4703" /><Relationship Type="http://schemas.openxmlformats.org/officeDocument/2006/relationships/extended-properties" Target="/docProps/app.xml" Id="Rd11fd3f82e2b4aab" /><Relationship Type="http://schemas.openxmlformats.org/officeDocument/2006/relationships/officeDocument" Target="/ppt/presentation.xml" Id="Raace3922dcb945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ede3bc316e420a"/>
  </p:sldMasterIdLst>
  <p:notesMasterIdLst>
    <p:notesMasterId xmlns:r="http://schemas.openxmlformats.org/officeDocument/2006/relationships" r:id="R94b85626c03b47e6"/>
  </p:notesMasterIdLst>
  <p:sldIdLst>
    <p:sldId xmlns:r="http://schemas.openxmlformats.org/officeDocument/2006/relationships" id="256" r:id="R34872d17eec44cd4"/>
    <p:sldId xmlns:r="http://schemas.openxmlformats.org/officeDocument/2006/relationships" id="257" r:id="R931b7a99c8004dc9"/>
    <p:sldId xmlns:r="http://schemas.openxmlformats.org/officeDocument/2006/relationships" id="258" r:id="Rb88cc41140e44d0b"/>
    <p:sldId xmlns:r="http://schemas.openxmlformats.org/officeDocument/2006/relationships" id="259" r:id="R81b1e37840464122"/>
    <p:sldId xmlns:r="http://schemas.openxmlformats.org/officeDocument/2006/relationships" id="260" r:id="R71ae57ddccf34e1b"/>
    <p:sldId xmlns:r="http://schemas.openxmlformats.org/officeDocument/2006/relationships" id="261" r:id="Rbc7c2ccaa25b4509"/>
    <p:sldId xmlns:r="http://schemas.openxmlformats.org/officeDocument/2006/relationships" id="262" r:id="R6ce40895631c494c"/>
    <p:sldId xmlns:r="http://schemas.openxmlformats.org/officeDocument/2006/relationships" id="263" r:id="R1dcecbebcf14490d"/>
    <p:sldId xmlns:r="http://schemas.openxmlformats.org/officeDocument/2006/relationships" id="264" r:id="Rb6301f13840946fa"/>
    <p:sldId xmlns:r="http://schemas.openxmlformats.org/officeDocument/2006/relationships" id="265" r:id="Rf43e574c561d436e"/>
    <p:sldId xmlns:r="http://schemas.openxmlformats.org/officeDocument/2006/relationships" id="266" r:id="R708162c85d0647b8"/>
    <p:sldId xmlns:r="http://schemas.openxmlformats.org/officeDocument/2006/relationships" id="267" r:id="R8cc5a3ece40c4ed3"/>
    <p:sldId xmlns:r="http://schemas.openxmlformats.org/officeDocument/2006/relationships" id="268" r:id="Rbb766edc79594e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2d456af794016" /><Relationship Type="http://schemas.openxmlformats.org/officeDocument/2006/relationships/slideMaster" Target="/ppt/slideMasters/slideMaster1.xml" Id="R84ede3bc316e420a" /><Relationship Type="http://schemas.openxmlformats.org/officeDocument/2006/relationships/notesMaster" Target="/ppt/notesMasters/notesMaster1.xml" Id="R94b85626c03b47e6" /><Relationship Type="http://schemas.openxmlformats.org/officeDocument/2006/relationships/presProps" Target="/ppt/presProps.xml" Id="Rc00d7a3360bd4348" /><Relationship Type="http://schemas.openxmlformats.org/officeDocument/2006/relationships/tableStyles" Target="/ppt/tableStyles.xml" Id="Re7dc17f55ed54d55" /><Relationship Type="http://schemas.openxmlformats.org/officeDocument/2006/relationships/slide" Target="/ppt/slides/slide1.xml" Id="R34872d17eec44cd4" /><Relationship Type="http://schemas.openxmlformats.org/officeDocument/2006/relationships/slide" Target="/ppt/slides/slide2.xml" Id="R931b7a99c8004dc9" /><Relationship Type="http://schemas.openxmlformats.org/officeDocument/2006/relationships/slide" Target="/ppt/slides/slide3.xml" Id="Rb88cc41140e44d0b" /><Relationship Type="http://schemas.openxmlformats.org/officeDocument/2006/relationships/slide" Target="/ppt/slides/slide4.xml" Id="R81b1e37840464122" /><Relationship Type="http://schemas.openxmlformats.org/officeDocument/2006/relationships/slide" Target="/ppt/slides/slide5.xml" Id="R71ae57ddccf34e1b" /><Relationship Type="http://schemas.openxmlformats.org/officeDocument/2006/relationships/slide" Target="/ppt/slides/slide6.xml" Id="Rbc7c2ccaa25b4509" /><Relationship Type="http://schemas.openxmlformats.org/officeDocument/2006/relationships/slide" Target="/ppt/slides/slide7.xml" Id="R6ce40895631c494c" /><Relationship Type="http://schemas.openxmlformats.org/officeDocument/2006/relationships/slide" Target="/ppt/slides/slide8.xml" Id="R1dcecbebcf14490d" /><Relationship Type="http://schemas.openxmlformats.org/officeDocument/2006/relationships/slide" Target="/ppt/slides/slide9.xml" Id="Rb6301f13840946fa" /><Relationship Type="http://schemas.openxmlformats.org/officeDocument/2006/relationships/slide" Target="/ppt/slides/slide10.xml" Id="Rf43e574c561d436e" /><Relationship Type="http://schemas.openxmlformats.org/officeDocument/2006/relationships/slide" Target="/ppt/slides/slide11.xml" Id="R708162c85d0647b8" /><Relationship Type="http://schemas.openxmlformats.org/officeDocument/2006/relationships/slide" Target="/ppt/slides/slide12.xml" Id="R8cc5a3ece40c4ed3" /><Relationship Type="http://schemas.openxmlformats.org/officeDocument/2006/relationships/slide" Target="/ppt/slides/slide13.xml" Id="Rbb766edc79594e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30e3b40e9b43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378ce5f684e53" /><Relationship Type="http://schemas.openxmlformats.org/officeDocument/2006/relationships/notesMaster" Target="/ppt/notesMasters/notesMaster1.xml" Id="R2b33af64b1f9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2942ef9864203" /><Relationship Type="http://schemas.openxmlformats.org/officeDocument/2006/relationships/notesMaster" Target="/ppt/notesMasters/notesMaster1.xml" Id="R800dde81a11a45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71d55f970a4133" /><Relationship Type="http://schemas.openxmlformats.org/officeDocument/2006/relationships/notesMaster" Target="/ppt/notesMasters/notesMaster1.xml" Id="R09394733398645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6d11a5ac04c10" /><Relationship Type="http://schemas.openxmlformats.org/officeDocument/2006/relationships/notesMaster" Target="/ppt/notesMasters/notesMaster1.xml" Id="R2fb7b0089c80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8c3c64caf241fe" /><Relationship Type="http://schemas.openxmlformats.org/officeDocument/2006/relationships/notesMaster" Target="/ppt/notesMasters/notesMaster1.xml" Id="R2742585daf7847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393e90f3ce4e6f" /><Relationship Type="http://schemas.openxmlformats.org/officeDocument/2006/relationships/notesMaster" Target="/ppt/notesMasters/notesMaster1.xml" Id="Rc983d9da37d6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fb14276e1f4adb" /><Relationship Type="http://schemas.openxmlformats.org/officeDocument/2006/relationships/notesMaster" Target="/ppt/notesMasters/notesMaster1.xml" Id="Re9e33420f95f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3781ba7b64ae3" /><Relationship Type="http://schemas.openxmlformats.org/officeDocument/2006/relationships/notesMaster" Target="/ppt/notesMasters/notesMaster1.xml" Id="Rd0e978e2b2b24e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857ad6d1514003" /><Relationship Type="http://schemas.openxmlformats.org/officeDocument/2006/relationships/notesMaster" Target="/ppt/notesMasters/notesMaster1.xml" Id="R67b63de2a4354b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8aad42ca4f489d" /><Relationship Type="http://schemas.openxmlformats.org/officeDocument/2006/relationships/notesMaster" Target="/ppt/notesMasters/notesMaster1.xml" Id="Rfd943b3970ed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e159f38d84c46d9" /><Relationship Type="http://schemas.openxmlformats.org/officeDocument/2006/relationships/notesMaster" Target="/ppt/notesMasters/notesMaster1.xml" Id="R0d0869131a9e4e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33538be6e4d61" /><Relationship Type="http://schemas.openxmlformats.org/officeDocument/2006/relationships/notesMaster" Target="/ppt/notesMasters/notesMaster1.xml" Id="Re0d049f5d8604e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bdbcd2979b4a83" /><Relationship Type="http://schemas.openxmlformats.org/officeDocument/2006/relationships/notesMaster" Target="/ppt/notesMasters/notesMaster1.xml" Id="R3cc09f47c9594e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Дополнительный обзор по запросу владельца. Не закрывает G05, не меняет счётчик задач. Последние CI, аудит и установленная поставка проверены 24 октября.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https://github.com/Villentretermert/ProjectMarket/blob/37543ee/docs/STATUS.md</a:t>
            </a:r>
          </a:p>
          <a:p xmlns:a="http://schemas.openxmlformats.org/drawingml/2006/main">
            <a:r>
              <a:t>https://github.com/Villentretermert/ProjectMarket/blob/37543ee/docs/ROADMAP.md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19/24 — счётчик полностью принятых PM-задач, не оценка доли трудозатрат. Завершены PM-001–018 и PM-021. После G04 принято 3 задачи из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https://github.com/Villentretermert/ProjectMarket/blob/37543ee/docs/STATUS.md</a:t>
            </a:r>
          </a:p>
          <a:p xmlns:a="http://schemas.openxmlformats.org/drawingml/2006/main">
            <a:r>
              <a:t>https://github.com/Villentretermert/ProjectMarket/blob/37543ee/docs/ROADMAP.md</a:t>
            </a:r>
          </a:p>
          <a:p xmlns:a="http://schemas.openxmlformats.org/drawingml/2006/main">
            <a:r>
              <a:t>https://github.com/Villentretermert/ProjectMarket/blob/37543ee/docs/reviews/G05.md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Фрагмент реального экрана приёмки PM-016. Синтетические товар, новость и заявка. Снимок этапа PM-016, не новая проверка 25 октября. Заявка не списывает деньги.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https://github.com/Villentretermert/ProjectMarket/blob/37543ee/docs/task-results/assets/PM-016/space-preview.png</a:t>
            </a:r>
          </a:p>
          <a:p xmlns:a="http://schemas.openxmlformats.org/drawingml/2006/main">
            <a:r>
              <a:t>https://github.com/Villentretermert/ProjectMarket/blob/37543ee/docs/task-results/PM-016.md</a:t>
            </a:r>
          </a:p>
          <a:p xmlns:a="http://schemas.openxmlformats.org/drawingml/2006/main">
            <a:r>
              <a:t>https://github.com/Villentretermert/ProjectMarket/blob/37543ee/docs/task-results/PM-010.md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 D46 добавило передачу владения активному Admin с подтверждением паролем. Ограничения прежних снимков PM-014 об отсутствии передачи владения больше не действуют.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https://github.com/Villentretermert/ProjectMarket/blob/37543ee/docs/task-results/PM-014.md</a:t>
            </a:r>
          </a:p>
          <a:p xmlns:a="http://schemas.openxmlformats.org/drawingml/2006/main">
            <a:r>
              <a:t>https://github.com/Villentretermert/ProjectMarket/blob/37543ee/docs/adr/0009-workspace-roles.md</a:t>
            </a:r>
          </a:p>
          <a:p xmlns:a="http://schemas.openxmlformats.org/drawingml/2006/main">
            <a:r>
              <a:t>https://github.com/Villentretermert/ProjectMarket/blob/37543ee/docs/adr/0017-personal-data-and-transfer.md</a:t>
            </a:r>
          </a:p>
          <a:p xmlns:a="http://schemas.openxmlformats.org/drawingml/2006/main">
            <a:r>
              <a:t>https://github.com/Villentretermert/ProjectMarket/blob/37543ee/docs/setup/PILOT_BOTS.md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Обмен реализован кодом неизменяемого серверного шаблона. Доступ к каждому источнику проверяется заново. Срок по умолчанию 30 дней. Получателю нужны аккаунт и доступ к тому же серверу. Polling 2 секунды в открытом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https://github.com/Villentretermert/ProjectMarket/blob/37543ee/docs/task-results/PM-017.md</a:t>
            </a:r>
          </a:p>
          <a:p xmlns:a="http://schemas.openxmlformats.org/drawingml/2006/main">
            <a:r>
              <a:t>https://github.com/Villentretermert/ProjectMarket/blob/37543ee/docs/task-results/PM-018.md</a:t>
            </a:r>
          </a:p>
          <a:p xmlns:a="http://schemas.openxmlformats.org/drawingml/2006/main">
            <a:r>
              <a:t>https://github.com/Villentretermert/ProjectMarket/blob/37543ee/docs/adr/0012-template-sharing.md</a:t>
            </a:r>
          </a:p>
          <a:p xmlns:a="http://schemas.openxmlformats.org/drawingml/2006/main">
            <a:r>
              <a:t>https://github.com/Villentretermert/ProjectMarket/blob/37543ee/docs/adr/0013-live-updates.md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опубликованный снимок проверки установленного локального пилота, демонстрационный аккаунт. В экспорт входят профиль, Favorites, My Space, свои заявки и Events. Ключи ботов, чужие данные и содержимое источников исключены.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https://github.com/Villentretermert/ProjectMarket/blob/37543ee/docs/task-results/assets/PM-023/dependencies/deployed-privacy.png</a:t>
            </a:r>
          </a:p>
          <a:p xmlns:a="http://schemas.openxmlformats.org/drawingml/2006/main">
            <a:r>
              <a:t>https://github.com/Villentretermert/ProjectMarket/blob/37543ee/docs/task-results/PM-023-account-privacy.md</a:t>
            </a:r>
          </a:p>
          <a:p xmlns:a="http://schemas.openxmlformats.org/drawingml/2006/main">
            <a:r>
              <a:t>https://github.com/Villentretermert/ProjectMarket/blob/37543ee/docs/adr/0017-personal-data-and-transfer.md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Редактируемая схема. Зелёные компоненты реализованы и проверены в локальном составе. Эксплуатационная и релизная приёмка частичная. Android/widget/cloud не реализованы либо отложены. Caddy обслуживает локальный HTTPS. Каталог/RSS запускаются отдельно и используют тот же шлюз.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https://github.com/Villentretermert/ProjectMarket/blob/37543ee/docs/adr/0014-local-delivery.md</a:t>
            </a:r>
          </a:p>
          <a:p xmlns:a="http://schemas.openxmlformats.org/drawingml/2006/main">
            <a:r>
              <a:t>https://github.com/Villentretermert/ProjectMarket/blob/37543ee/docs/adr/0013-live-updates.md</a:t>
            </a:r>
          </a:p>
          <a:p xmlns:a="http://schemas.openxmlformats.org/drawingml/2006/main">
            <a:r>
              <a:t>https://github.com/Villentretermert/ProjectMarket/blob/37543ee/docs/task-results/PM-023-dependencies.md</a:t>
            </a:r>
          </a:p>
          <a:p xmlns:a="http://schemas.openxmlformats.org/drawingml/2006/main">
            <a:r>
              <a:t>https://github.com/Villentretermert/ProjectMarket/blob/37543ee/docs/ROADMAP.md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Файлы backend находятся в apps/api/src/marketob_api. Имена сущностей на слайде описывают предметную область, а не обещают буквальные названия ORM-классов. Backend, схемы, SDK и боты написаны на Python. Web runtime использует JavaScript/CSS.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https://github.com/Villentretermert/ProjectMarket/blob/37543ee/apps/api/src/marketob_api/identity.py</a:t>
            </a:r>
          </a:p>
          <a:p xmlns:a="http://schemas.openxmlformats.org/drawingml/2006/main">
            <a:r>
              <a:t>https://github.com/Villentretermert/ProjectMarket/blob/37543ee/apps/api/src/marketob_api/ingestion.py</a:t>
            </a:r>
          </a:p>
          <a:p xmlns:a="http://schemas.openxmlformats.org/drawingml/2006/main">
            <a:r>
              <a:t>https://github.com/Villentretermert/ProjectMarket/blob/37543ee/apps/api/src/marketob_api/actions.py</a:t>
            </a:r>
          </a:p>
          <a:p xmlns:a="http://schemas.openxmlformats.org/drawingml/2006/main">
            <a:r>
              <a:t>https://github.com/Villentretermert/ProjectMarket/blob/37543ee/apps/api/src/marketob_api/personal_pages.py</a:t>
            </a:r>
          </a:p>
          <a:p xmlns:a="http://schemas.openxmlformats.org/drawingml/2006/main">
            <a:r>
              <a:t>https://github.com/Villentretermert/ProjectMarket/blob/37543ee/apps/api/src/marketob_api/privacy.py</a:t>
            </a:r>
          </a:p>
          <a:p xmlns:a="http://schemas.openxmlformats.org/drawingml/2006/main">
            <a:r>
              <a:t>https://github.com/Villentretermert/ProjectMarket/blob/37543ee/apps/api/src/marketob_api/web/space.js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из invalidate_access, переносы и пробелы адаптированы для чтения. Изменение прав и общего маркера проходит атомарно. Клиенты получают resync и заново проверяют источники. Это устранило зависимость от количества свободных мест change_outbox. Полный L2 остаётся отложенным.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https://github.com/Villentretermert/ProjectMarket/blob/37543ee/apps/api/src/marketob_api/access_changes.py</a:t>
            </a:r>
          </a:p>
          <a:p xmlns:a="http://schemas.openxmlformats.org/drawingml/2006/main">
            <a:r>
              <a:t>https://github.com/Villentretermert/ProjectMarket/blob/37543ee/docs/task-results/PM-023-queue-fix.md</a:t>
            </a:r>
          </a:p>
          <a:p xmlns:a="http://schemas.openxmlformats.org/drawingml/2006/main">
            <a:r>
              <a:t>https://github.com/Villentretermert/ProjectMarket/blob/37543ee/docs/adr/0016-permission-invalidation.md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 40128462069 на runtime commit 9afe3ec: все 4 jobs PASS. 90 unit +110 integration =200 разных Python tests. Повтор unit на Windows/Ubuntu не суммируется. 54 Chromium scenarios. Локальный backup/restore между PostgreSQL18.4/18.6 сверил 29 таблиц и10 sequences. Проверки выполнены 24 октября.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https://github.com/Villentretermert/ProjectMarket/blob/37543ee/docs/task-results/assets/PM-023/dependencies/ci-results.json</a:t>
            </a:r>
          </a:p>
          <a:p xmlns:a="http://schemas.openxmlformats.org/drawingml/2006/main">
            <a:r>
              <a:t>https://github.com/Villentretermert/ProjectMarket/blob/37543ee/docs/task-results/assets/PM-023/dependencies/local-delivery.json</a:t>
            </a:r>
          </a:p>
          <a:p xmlns:a="http://schemas.openxmlformats.org/drawingml/2006/main">
            <a:r>
              <a:t>https://github.com/Villentretermert/ProjectMarket/blob/37543ee/docs/task-results/assets/PM-023/dependencies/deployed-browser.json</a:t>
            </a:r>
          </a:p>
          <a:p xmlns:a="http://schemas.openxmlformats.org/drawingml/2006/main">
            <a:r>
              <a:t>https://github.com/Villentretermert/ProjectMarket/actions/runs/40128462069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Trivy0.76.1, база от24октября13:07:23Z, linux/amd64. До: a7deaab, после: установленные образы9afe3ec. Сумма только трёх основных образов: Critical28/6, High280/163. Отдельный bot image в сумму не включён. Это строки package/version/advisory, не уникальные CVE и не доказанные атаки.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https://github.com/Villentretermert/ProjectMarket/blob/37543ee/docs/task-results/assets/PM-023/dependencies/comparison.json</a:t>
            </a:r>
          </a:p>
          <a:p xmlns:a="http://schemas.openxmlformats.org/drawingml/2006/main">
            <a:r>
              <a:t>https://github.com/Villentretermert/ProjectMarket/blob/37543ee/docs/task-results/PM-023-dependencies.md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Android и виджет отложены владельцем. Полный L2:30минут/100клиентов на свободном компьютере, не подтверждён короткими тестами. PM-023 независимая Web/API-часть готова, но release gate открыт. PM-024 инструкции подготовлены, RC и приёмка владельцем отсутствуют.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https://github.com/Villentretermert/ProjectMarket/blob/37543ee/docs/tasks/PM-019.md</a:t>
            </a:r>
          </a:p>
          <a:p xmlns:a="http://schemas.openxmlformats.org/drawingml/2006/main">
            <a:r>
              <a:t>https://github.com/Villentretermert/ProjectMarket/blob/37543ee/docs/tasks/PM-020.md</a:t>
            </a:r>
          </a:p>
          <a:p xmlns:a="http://schemas.openxmlformats.org/drawingml/2006/main">
            <a:r>
              <a:t>https://github.com/Villentretermert/ProjectMarket/blob/37543ee/docs/tasks/PM-022.md</a:t>
            </a:r>
          </a:p>
          <a:p xmlns:a="http://schemas.openxmlformats.org/drawingml/2006/main">
            <a:r>
              <a:t>https://github.com/Villentretermert/ProjectMarket/blob/37543ee/docs/tasks/PM-023.md</a:t>
            </a:r>
          </a:p>
          <a:p xmlns:a="http://schemas.openxmlformats.org/drawingml/2006/main">
            <a:r>
              <a:t>https://github.com/Villentretermert/ProjectMarket/blob/37543ee/docs/tasks/PM-024.md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порядок для обсуждения, не новое разрешение начать работу. После этой дополнительной презентации запрашиваются12отдельных ответов. Android/облако/L2 не возобновляются автоматически. G05 по регламенту после20й полностью принятой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https://github.com/Villentretermert/ProjectMarket/blob/37543ee/docs/STATUS.md</a:t>
            </a:r>
          </a:p>
          <a:p xmlns:a="http://schemas.openxmlformats.org/drawingml/2006/main">
            <a:r>
              <a:t>https://github.com/Villentretermert/ProjectMarket/blob/37543ee/docs/task-results/PM-023-dependencies.md</a:t>
            </a:r>
          </a:p>
          <a:p xmlns:a="http://schemas.openxmlformats.org/drawingml/2006/main">
            <a:r>
              <a:t>https://github.com/Villentretermert/ProjectMarket/blob/37543ee/docs/setup/PILOT_HANDOFF.md</a:t>
            </a:r>
          </a:p>
          <a:p xmlns:a="http://schemas.openxmlformats.org/drawingml/2006/main">
            <a:r>
              <a:t>https://github.com/Villentretermert/ProjectMarket/blob/37543ee/docs/reviews/G05.md</a:t>
            </a:r>
          </a:p>
          <a:p xmlns:a="http://schemas.openxmlformats.org/drawingml/2006/main">
            <a:r>
              <a:t>https://github.com/Villentretermert/ProjectMarket/blob/37543ee/docs/WORKING_AGREEMENT.md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b6371a63245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9f80ddc56f43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b730672ca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eb904bb6641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802ad93d14e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fdd87357c4b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5CD409-4D85-4329-95FB-758C1804E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3FEF30C-04D9-4F77-841F-41A0356A57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B3D102-A93E-422C-87F6-97D1C51FB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652ED5-D549-4F67-B75D-5B03891DD2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D30ADF-7DDC-4447-9C43-E0D37822A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041729-17E4-456A-91B0-E69680AE4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9921AC-841E-411A-9472-EA5DCB91F7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6574D8-86DA-4E92-B287-503D2A6B62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84A9F-44F4-4790-B5E3-D6D12B980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0D7AB5-68AD-49E9-ABEE-F8F678989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819ac25dff433a" /><Relationship Type="http://schemas.openxmlformats.org/officeDocument/2006/relationships/slideLayout" Target="/ppt/slideLayouts/slideLayout1.xml" Id="R2f4f59713d6b4dda" /><Relationship Type="http://schemas.openxmlformats.org/officeDocument/2006/relationships/slideLayout" Target="/ppt/slideLayouts/slideLayout2.xml" Id="R7d3d76d04bd345c9" /><Relationship Type="http://schemas.openxmlformats.org/officeDocument/2006/relationships/slideLayout" Target="/ppt/slideLayouts/slideLayout3.xml" Id="R5117c507d0474030" /><Relationship Type="http://schemas.openxmlformats.org/officeDocument/2006/relationships/slideLayout" Target="/ppt/slideLayouts/slideLayout4.xml" Id="Rc9ea6f46b84a411f" /><Relationship Type="http://schemas.openxmlformats.org/officeDocument/2006/relationships/slideLayout" Target="/ppt/slideLayouts/slideLayout5.xml" Id="R08a66be9756f42d1" /><Relationship Type="http://schemas.openxmlformats.org/officeDocument/2006/relationships/slideLayout" Target="/ppt/slideLayouts/slideLayout6.xml" Id="R40d9b0a12f0d40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4f59713d6b4dda"/>
    <p:sldLayoutId xmlns:r="http://schemas.openxmlformats.org/officeDocument/2006/relationships" id="2147483650" r:id="R7d3d76d04bd345c9"/>
    <p:sldLayoutId xmlns:r="http://schemas.openxmlformats.org/officeDocument/2006/relationships" id="2147483651" r:id="R5117c507d0474030"/>
    <p:sldLayoutId xmlns:r="http://schemas.openxmlformats.org/officeDocument/2006/relationships" id="2147483652" r:id="Rc9ea6f46b84a411f"/>
    <p:sldLayoutId xmlns:r="http://schemas.openxmlformats.org/officeDocument/2006/relationships" id="2147483653" r:id="R08a66be9756f42d1"/>
    <p:sldLayoutId xmlns:r="http://schemas.openxmlformats.org/officeDocument/2006/relationships" id="2147483654" r:id="R40d9b0a12f0d40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343dffe3c49f3" /><Relationship Type="http://schemas.openxmlformats.org/officeDocument/2006/relationships/notesSlide" Target="/ppt/notesSlides/notesSlide1.xml" Id="Rd3e017c6fb064a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1f78bec544c21" /><Relationship Type="http://schemas.openxmlformats.org/officeDocument/2006/relationships/notesSlide" Target="/ppt/notesSlides/notesSlide2.xml" Id="Re8fb89d381f4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040f17a72409a" /><Relationship Type="http://schemas.openxmlformats.org/officeDocument/2006/relationships/image" Target="/ppt/media/image.png" Id="R3e302c636bd34c80" /><Relationship Type="http://schemas.openxmlformats.org/officeDocument/2006/relationships/notesSlide" Target="/ppt/notesSlides/notesSlide3.xml" Id="R538689d68438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ef9004dab4922" /><Relationship Type="http://schemas.openxmlformats.org/officeDocument/2006/relationships/notesSlide" Target="/ppt/notesSlides/notesSlide4.xml" Id="R6cd3badedab0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30a340ba644b9" /><Relationship Type="http://schemas.openxmlformats.org/officeDocument/2006/relationships/notesSlide" Target="/ppt/notesSlides/notesSlide5.xml" Id="R6159c28d9cfb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0d12459f7b425d" /><Relationship Type="http://schemas.openxmlformats.org/officeDocument/2006/relationships/image" Target="/ppt/media/image2.png" Id="R1b7542404e0e4e5f" /><Relationship Type="http://schemas.openxmlformats.org/officeDocument/2006/relationships/notesSlide" Target="/ppt/notesSlides/notesSlide6.xml" Id="R411194e76c8b42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fdc8e0ca744c2" /><Relationship Type="http://schemas.openxmlformats.org/officeDocument/2006/relationships/notesSlide" Target="/ppt/notesSlides/notesSlide7.xml" Id="R77d686bbcccb47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6536bda404436" /><Relationship Type="http://schemas.openxmlformats.org/officeDocument/2006/relationships/notesSlide" Target="/ppt/notesSlides/notesSlide8.xml" Id="R0ec7bca92ea343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2287189e74c3e" /><Relationship Type="http://schemas.openxmlformats.org/officeDocument/2006/relationships/notesSlide" Target="/ppt/notesSlides/notesSlide9.xml" Id="R3f9301b169b748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7ab747f72b438d" /><Relationship Type="http://schemas.openxmlformats.org/officeDocument/2006/relationships/notesSlide" Target="/ppt/notesSlides/notesSlide10.xml" Id="Rdfa852c4d6934e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99588db614632" /><Relationship Type="http://schemas.openxmlformats.org/officeDocument/2006/relationships/notesSlide" Target="/ppt/notesSlides/notesSlide11.xml" Id="R14ec7b85b8a84a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3de77836d4d0c" /><Relationship Type="http://schemas.openxmlformats.org/officeDocument/2006/relationships/notesSlide" Target="/ppt/notesSlides/notesSlide12.xml" Id="R16c4d40c338645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6e2396610a483f" /><Relationship Type="http://schemas.openxmlformats.org/officeDocument/2006/relationships/notesSlide" Target="/ppt/notesSlides/notesSlide13.xml" Id="Rf398bca2b0644a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3C76-A2B8-4B39-B31D-C69EEBE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MarkeTOB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0A606-1C57-4F79-B32C-5CBE3A5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8972E-3576-4133-B7D9-60B6491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1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DACA2-BB3A-4A29-B121-90D16CA8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Текущий статус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03B3-3C69-41AA-BE14-D54FF5B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Один интерфейс для каталогов,</a:t>
            </a:r>
          </a:p>
          <a:p xmlns:a="http://schemas.openxmlformats.org/drawingml/2006/main">
            <a:pPr>
              <a:defRPr sz="28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новостей и действий через ботов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12075-44D4-4D91-AA38-2A36F0C8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Локальный Web-пилот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56050-79D9-4DC7-9D82-D996438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25 октября 2026</a:t>
            </a:r>
          </a:p>
          <a:p xmlns:a="http://schemas.openxmlformats.org/drawingml/2006/main">
            <a: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Доказательства проверок по состоянию на 24 октября</a:t>
            </a:r>
          </a:p>
        </p:txBody>
      </p:sp>
    </p:spTree>
    <p:extLst>
      <p:ext uri="{BB962C8B-B14F-4D97-AF65-F5344CB8AC3E}">
        <p14:creationId xmlns:p14="http://schemas.microsoft.com/office/powerpoint/2010/main" val="131746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41233-9FE9-4981-B636-180F7897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Готовность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EF93E-69DF-497E-B88F-2A88A7D8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C3BF-39EA-4066-A383-8BF446DF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2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9E1CA-9C6F-4ECC-A8B8-595AD2E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19 /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05BF3-0F36-4EFD-AE58-46907738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задач пилота принято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CB72-CAC1-4657-A258-033A9426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3905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Это счётчик задач.</a:t>
            </a:r>
          </a:p>
          <a:p xmlns:a="http://schemas.openxmlformats.org/drawingml/2006/main">
            <a: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Он не оценивает объём</a:t>
            </a:r>
          </a:p>
          <a:p xmlns:a="http://schemas.openxmlformats.org/drawingml/2006/main">
            <a:pPr>
              <a:defRPr sz="19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оставшейся работы.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332E4-32D1-4CAD-B68E-B48EBB12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76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745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745A"/>
                </a:solidFill>
                <a:latin typeface="Arial"/>
                <a:ea typeface="Arial"/>
                <a:cs typeface="Arial"/>
              </a:rPr>
              <a:t>Работает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FC739-AD65-4E24-98C4-0C997FC9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526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Web, B2B Studio, боты, My Space,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обмен страницами и Docker-поставка.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E0F3F-EB4C-408D-A3E4-97AD8541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194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946013"/>
                </a:solidFill>
                <a:latin typeface="Arial"/>
                <a:ea typeface="Arial"/>
                <a:cs typeface="Arial"/>
              </a:rPr>
              <a:t>Частично готово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FF9C2-0215-47E2-B59D-9C2F6D93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957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Нагрузочная приёмка, безопасность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релиза и передача владельцу.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A274-599A-46BB-B53B-3FA217F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36A80"/>
                </a:solidFill>
                <a:latin typeface="Arial"/>
                <a:ea typeface="Arial"/>
                <a:cs typeface="Arial"/>
              </a:rPr>
              <a:t>Отложено владельцем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36BD8-2711-4931-AD50-64F924C4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Android, домашний виджет,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Google/Firebase и облако.</a:t>
            </a:r>
          </a:p>
        </p:txBody>
      </p:sp>
    </p:spTree>
    <p:extLst>
      <p:ext uri="{BB962C8B-B14F-4D97-AF65-F5344CB8AC3E}">
        <p14:creationId xmlns:p14="http://schemas.microsoft.com/office/powerpoint/2010/main" val="541572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97D64-D2DA-4B15-B096-2877AB8B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Личная витрина B2C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0BB60-E60E-4EB6-A8CD-1AFD7820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89784-1F82-465D-8A5A-D8C6699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3 / 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2FE07-01AB-4624-B2D2-8A8CB1247F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02c636bd34c80"/>
          <a:srcRect xmlns:a="http://schemas.openxmlformats.org/drawingml/2006/main" l="19400" t="23000" r="1800" b="37500"/>
          <a:stretch xmlns:a="http://schemas.openxmlformats.org/drawingml/2006/main"/>
        </p:blipFill>
        <p:spPr>
          <a:xfrm xmlns:a="http://schemas.openxmlformats.org/drawingml/2006/main">
            <a:off x="457200" y="1552575"/>
            <a:ext cx="762000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8A8EC-2CE3-429F-9CD6-7328F88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859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My Space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CBE45-9399-423A-86D9-FB7E5B6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193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Блоки разных каналов</a:t>
            </a:r>
          </a:p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в одной странице.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A4783-CB37-4A3E-B3F4-E63D1CE4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670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Порядок, оформление</a:t>
            </a:r>
          </a:p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и тип визуализации.</a:t>
            </a:r>
          </a:p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Автосохранение и Undo.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83079-8CF4-4ED4-A355-83F30903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14875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Request purchase</a:t>
            </a:r>
          </a:p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отправляет заявку</a:t>
            </a:r>
          </a:p>
          <a:p xmlns:a="http://schemas.openxmlformats.org/drawingml/2006/main">
            <a:pPr>
              <a:defRPr sz="210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и показывает ответ.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E19DF-0A62-4FD4-A6F6-FBBCD9B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Фактический экран PM-016. Демонстрационные данные, без оплаты.</a:t>
            </a:r>
          </a:p>
        </p:txBody>
      </p:sp>
    </p:spTree>
    <p:extLst>
      <p:ext uri="{BB962C8B-B14F-4D97-AF65-F5344CB8AC3E}">
        <p14:creationId xmlns:p14="http://schemas.microsoft.com/office/powerpoint/2010/main" val="1578231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E75C-0820-4A1D-B7BE-A3A68B5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B2B Studio и подключение ботов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BD33-EC59-4CB0-A8E7-B4E5332B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12EBF-C565-4138-8FA9-69B1BD9C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4 / 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FED9D-B322-44D1-A0D6-7A1ED085860B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Доступные действия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Команда, передача владения и все настройки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Боты, ключи, доступ к каналам и публикация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Editor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Оформление, публикация и откат страниц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41692-FA89-43A7-B729-FEBC4C16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У каждого бота свой ключ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29FD4-C04B-4764-9D80-05502992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334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Регистрация, замена и отзыв ключей.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Python SDK и единый HTTP-контракт.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79F73-F83D-429C-8DA2-1AF2B4B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72025"/>
            <a:ext cx="5200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Оформление отдельно от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327F4-BD2E-4B14-B338-87D27F10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5200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Public или Selected users.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Новые данные видны после приёма.</a:t>
            </a:r>
          </a:p>
        </p:txBody>
      </p:sp>
    </p:spTree>
    <p:extLst>
      <p:ext uri="{BB962C8B-B14F-4D97-AF65-F5344CB8AC3E}">
        <p14:creationId xmlns:p14="http://schemas.microsoft.com/office/powerpoint/2010/main" val="1402430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0431A-4CF1-4B00-9FC8-C1CC913DCB9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2288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2A5F8-5447-4841-9EB0-80563560178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67100" y="22288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5D7A1-1207-4634-9EC4-FC940257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Обмен страницами и обновления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6C1E9-60BB-4706-99F7-DDF5A4D3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DF7DD-8DCD-4F2B-848E-BE5308B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5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673A7-CBF0-498E-8090-0B2D8540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Моя страница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Оформление и ссылки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A978C-72D0-42F5-9603-752EEB34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Ссылка или код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Срок и отзыв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F50C0-F249-42FD-A49E-523152C8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1450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Независимая копия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Проверка доступа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16169-D873-492A-9A10-8CC34D9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Права на закрытые данные сохраняются у источника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F1AEC-B7C8-43F7-8810-6E286EFB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Друг получает собственную копию оформления.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Недоступный источник остаётся скрытым.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085BD-F40A-4BA0-AB24-2F37D0E6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Открытый Web проверяет изменения каждые 2 секунды.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Events показывает выбранные события внутри приложения.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D664E-4F1F-49D8-A772-443E0FB6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Фоновые push-уведомления и Android-виджет пока не реализованы.</a:t>
            </a:r>
          </a:p>
        </p:txBody>
      </p:sp>
    </p:spTree>
    <p:extLst>
      <p:ext uri="{BB962C8B-B14F-4D97-AF65-F5344CB8AC3E}">
        <p14:creationId xmlns:p14="http://schemas.microsoft.com/office/powerpoint/2010/main" val="19376773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F34A9-771F-4479-982B-DF2544E5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Личные данные и удаление аккаунта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8D921-4287-4862-9C53-DFA9C62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32476-36D3-4E82-8231-349BC34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6 / 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16AFE-618C-4A6C-B49C-49F09FE95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542404e0e4e5f"/>
          <a:srcRect xmlns:a="http://schemas.openxmlformats.org/drawingml/2006/main" l="19400" t="22000" r="2500" b="4000"/>
          <a:stretch xmlns:a="http://schemas.openxmlformats.org/drawingml/2006/main"/>
        </p:blipFill>
        <p:spPr>
          <a:xfrm xmlns:a="http://schemas.openxmlformats.org/drawingml/2006/main">
            <a:off x="457200" y="1619250"/>
            <a:ext cx="7191375" cy="43719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06AC8-5763-430D-BC10-D6C9874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954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Экспорт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08616-BAEA-4B59-839D-0A76A7CC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3476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Профиль, избранное,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My Space, свои заявки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и настройки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0B052-AD46-4F84-B14C-A18FAEA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957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Удаление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48F62-26EA-4870-860A-BF9B63CF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91000"/>
            <a:ext cx="34766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Сначала передача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workspace новому Owner.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Затем пароль и DELETE.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859D0-6FBA-4098-98AE-9AAE1C21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Внешние копии и резервные копии оператора удаление аккаунта не стирает.</a:t>
            </a:r>
          </a:p>
        </p:txBody>
      </p:sp>
    </p:spTree>
    <p:extLst>
      <p:ext uri="{BB962C8B-B14F-4D97-AF65-F5344CB8AC3E}">
        <p14:creationId xmlns:p14="http://schemas.microsoft.com/office/powerpoint/2010/main" val="438030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3D4AF-8C03-4C1E-9C8C-C9C0EF07F5C7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0229850" y="26860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648F9-F558-4474-8642-B31240E95BC7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7058025" y="26860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48A2C-AEA4-4352-B993-98018E5B8DD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48650" y="2171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2F916-6340-4EBB-9855-F1593CDD706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38750" y="2171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3C396-3A99-41C6-BF9D-B47428ABCA8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09850" y="21717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A80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5E296E-179B-495E-A783-276B62BC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Система локального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31C60-F480-4385-A101-853481E2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BA27-87C1-432D-95D9-3387FA05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7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0F9B1-A59E-4AAE-9B9E-E12DAD3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Web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English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E9E2E-C1D7-46D1-89C9-1C9A3801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000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Caddy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HTTPS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0A7B1-27AE-4127-8F4C-F8C92406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573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Python API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Права и Bot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5E55-7F42-4E9F-9C58-1415C873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705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Данные и очередь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3D406-7002-40F7-8A38-A7197C2B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099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Каталог / RSS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Python SDK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60EC7-5A67-4C7A-897F-89467DC0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9950"/>
            <a:ext cx="2705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Maintenance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Очистка и доставка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C57AB-BA77-4E6C-9FC8-20DFBAEC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629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Android / виджет / облако</a:t>
            </a:r>
          </a:p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Отложено, не готово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A6C5E-D32C-4B99-BFC0-23F782B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9"/>
          </a:solidFill>
          <a:ln xmlns:a="http://schemas.openxmlformats.org/drawingml/2006/main" w="9525">
            <a:solidFill>
              <a:srgbClr val="D5E0EB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22D48"/>
                </a:solidFill>
                <a:latin typeface="Arial"/>
                <a:ea typeface="Arial"/>
                <a:cs typeface="Arial"/>
              </a:rPr>
              <a:t>Полная нагрузочная и релизная приёмка: частично готово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F5A94-8E19-45A4-A335-E482236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3745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745A"/>
                </a:solidFill>
                <a:latin typeface="Arial"/>
                <a:ea typeface="Arial"/>
                <a:cs typeface="Arial"/>
              </a:rPr>
              <a:t>Зелёный: готово в локальном составе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73981-6287-4377-804E-247E8275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5790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Серый: не сделано / отложено</a:t>
            </a:r>
          </a:p>
        </p:txBody>
      </p:sp>
    </p:spTree>
    <p:extLst>
      <p:ext uri="{BB962C8B-B14F-4D97-AF65-F5344CB8AC3E}">
        <p14:creationId xmlns:p14="http://schemas.microsoft.com/office/powerpoint/2010/main" val="1308772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6907E-E371-4AEF-86C8-355AB90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Основные компоненты и сущности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04092-06D9-4233-A03B-BDB54463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3400B-B725-4FA9-8C34-8171CC2E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8 / 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AF133-8F39-45D0-BBFE-B6DA9ABD4F94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3048000"/>
                <a:gridCol w="3781425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Компоненты Python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Сущности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identity.py, teams.py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User, Workspace, роль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Сессии и границы доступа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ingestion.py, channels.py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Bot, Message, Snapshot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Приём данных и витрина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actions.py, request_state.py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Request, Event,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Заявка и ответ бота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personal_pages.py, sharing.py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Страница и шаблон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Композиция и обмен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privacy.py, access_changes.py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Экспорт, удаление, resync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Личные данные и отзыв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69CBE-8444-4D31-9597-82F28D00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Python: backend, контракты, SDK, боты.  JavaScript/CSS: интерактивный Web.</a:t>
            </a:r>
          </a:p>
        </p:txBody>
      </p:sp>
    </p:spTree>
    <p:extLst>
      <p:ext uri="{BB962C8B-B14F-4D97-AF65-F5344CB8AC3E}">
        <p14:creationId xmlns:p14="http://schemas.microsoft.com/office/powerpoint/2010/main" val="941627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A65F9-D609-48B2-B192-1AADCA9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Отзыв доступа при заполненной очереди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5FE97-58BD-4D0E-9604-8DB57CDC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1F30E-07D1-4E56-A001-9946EC55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9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4EBAD-69CB-4728-A081-84DE389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access_changes.py / invalidate_access()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D10E7-1B94-42D1-8786-8D53BA90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UPDATE delivery_state</a:t>
            </a:r>
          </a:p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SET watermark = watermark + 1, retention_floor = watermark + 1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B10AD-10A6-443E-899F-39528996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0FDAA-8B8C-44ED-A04F-CBB0B109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147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Права и маркер меняются одной транзакцией.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B1009-1879-43BB-B2F9-DE75D5CC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37CC9-154E-4EB0-831F-8294F1A3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5767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Клиент перечитывает разрешённые snapshots.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41AC3-2394-413B-AD3F-E3F05EE4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2517A-1CDC-4C94-B874-8CCCEC0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Отзыв работает и при полной очереди уведомлений.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E9A9A-B671-4546-B70B-D8199C9F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Общий resync добавляет чтения. Его поведение под полной нагрузкой ещё проверим.</a:t>
            </a:r>
          </a:p>
        </p:txBody>
      </p:sp>
    </p:spTree>
    <p:extLst>
      <p:ext uri="{BB962C8B-B14F-4D97-AF65-F5344CB8AC3E}">
        <p14:creationId xmlns:p14="http://schemas.microsoft.com/office/powerpoint/2010/main" val="1477170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FA821-28FB-43E0-98A5-4EE6DF0C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Проверки и установленная поставка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C960C-7603-485C-A1C3-8122E35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173ED-A329-473A-AC51-2CD761C0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10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7BF63-354F-44E9-B662-87EFAF92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37611-706F-4FCA-B854-440A8877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Python-тестов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42B8F-59E8-4342-98EA-BAB04598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33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90 unit и 110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99F2F-9BC5-467B-95F1-1A99B256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2A352-0EDA-42F5-BB1D-7FFBE1DD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сценария Chromium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5A028-7E99-4D7E-88E2-056C0F7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33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Все 4 задания CI прошли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D2692-93AF-40C1-8D06-A74EA3D8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304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29 + 10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F170B-93E5-4568-8B46-4BE65186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таблиц и sequences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9D0B-2611-4DB4-B2AF-C326A196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Совпали после</a:t>
            </a:r>
          </a:p>
          <a:p xmlns:a="http://schemas.openxmlformats.org/drawingml/2006/main">
            <a:pPr>
              <a:defRPr sz="187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backup / restore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B6393-8E87-4FBE-8BBB-769484E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Локально установлен 9afe3ec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EBE8E-D90E-40C3-992D-225255D4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Python 3.14.9    PostgreSQL 18.6    Caddy 2.11.7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8400F-1820-42C1-AA55-2E43B5C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Последняя проверка 24 октября: HTTPS, Web, экспорт и 4 healthy-сервиса.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6927609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94DEF-1E5E-49CF-952B-31B96D77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Обновление зависимостей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EEF9B-5E9B-4219-B126-B7A0FA3D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E664B-C32E-43B6-B926-001F540D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11 / 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6AF4-B0EA-463A-952A-4A0DC4A8776D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64198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Образ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Critical до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Critical сейчас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 до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 сейчас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API / worker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HTTPS proxy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94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116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Всего строк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280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163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093AF-9E5C-4679-8DF1-11D36588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94601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946013"/>
                </a:solidFill>
                <a:latin typeface="Arial"/>
                <a:ea typeface="Arial"/>
                <a:cs typeface="Arial"/>
              </a:rPr>
              <a:t>32 High/Critical имеют указанную исправленную версию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1BA2A-5523-4CEB-9714-2527F98C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Остались в proxy и БД. Требуются разбор применимости и проверенные обновления.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BE01B-D7E8-434C-AC8B-DC002226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Снимок 24 октября. Строки сканера могут повторять один CVE. Внешний релиз не принят.</a:t>
            </a:r>
          </a:p>
        </p:txBody>
      </p:sp>
    </p:spTree>
    <p:extLst>
      <p:ext uri="{BB962C8B-B14F-4D97-AF65-F5344CB8AC3E}">
        <p14:creationId xmlns:p14="http://schemas.microsoft.com/office/powerpoint/2010/main" val="933372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65823-D24F-451B-84B5-EF9CB154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Что остаётся до полной приёмки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025E-9685-49D7-9B8D-EB287278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C8DD-1A55-4651-8E91-8C0DD06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12 / 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2EA8-6AE7-4375-99CF-D04554FE7842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333625"/>
                <a:gridCol w="6924675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Состояние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Оставшийся 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T w="9525">
                      <a:solidFill>
                        <a:srgbClr val="D5E0EB"/>
                      </a:solidFill>
                      <a:prstDash val="solid"/>
                    </a:lnT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122D48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PM-019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Отложена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APK/AAB и проверка на телефоне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PM-020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Отложена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Новостной домашний виджет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PM-022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Частично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Полный L2 на свободном компьютере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PM-023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Частично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Зависимости, notices и native privacy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PM-024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B"/>
                      </a:solidFill>
                      <a:prstDash val="solid"/>
                    </a:lnL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Частично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22D48"/>
                          </a:solidFill>
                          <a:latin typeface="Arial"/>
                          <a:ea typeface="Arial"/>
                          <a:cs typeface="Arial"/>
                        </a:rPr>
                        <a:t>Сквозная приёмка и передача владельцу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B"/>
                      </a:solidFill>
                      <a:prstDash val="solid"/>
                    </a:lnR>
                    <a:lnB w="9525">
                      <a:solidFill>
                        <a:srgbClr val="D5E0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34C57-3A16-4030-AA4A-7E48D9D3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Google/Firebase и облако отложены. iOS и Windows остаются этапом развития.</a:t>
            </a:r>
          </a:p>
        </p:txBody>
      </p:sp>
    </p:spTree>
    <p:extLst>
      <p:ext uri="{BB962C8B-B14F-4D97-AF65-F5344CB8AC3E}">
        <p14:creationId xmlns:p14="http://schemas.microsoft.com/office/powerpoint/2010/main" val="1064620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F01A7-5747-4650-8908-5EDB4FD7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Следующие шаги и порядок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F761D7-FC14-4C63-AD0D-7E007754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MarkeTOB  /  25 октября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D43AF-DEEB-4608-9E2D-95A10DC4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80"/>
                </a:solidFill>
                <a:latin typeface="Arial"/>
                <a:ea typeface="Arial"/>
                <a:cs typeface="Arial"/>
              </a:rPr>
              <a:t>13 /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700B5-F590-4EF4-BC03-7448CCAB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939CB-2195-4809-AC14-8B9A268F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85925"/>
            <a:ext cx="10201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Оставшиеся риски зависимостей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C2514-5F47-43E4-9B51-F166E51A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57425"/>
            <a:ext cx="10201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Разобрать пути вызова, обновить компоненты и повторить CI.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Это ближайший технический приоритет перед внешним пилотом.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9F356-7B5C-454C-BFA6-74345ED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496C2-863E-4416-8E79-F76B3F76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10201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Проверка продукта владельцем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52344-0F86-4809-92D1-68A9CF45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24300"/>
            <a:ext cx="102012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Пройти локальный сценарий двух аккаунтов и двух ботов.</a:t>
            </a:r>
          </a:p>
          <a:p xmlns:a="http://schemas.openxmlformats.org/drawingml/2006/main">
            <a:pPr>
              <a:defRPr sz="2025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Собрать замечания к My Space, Studio и заявкам.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F9DD7-1A16-48D6-AD5C-38624D17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61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768B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8B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AC921-CF9C-4C3A-8176-6F7E7F9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9675"/>
            <a:ext cx="102012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2D48"/>
                </a:solidFill>
                <a:latin typeface="Arial"/>
                <a:ea typeface="Arial"/>
                <a:cs typeface="Arial"/>
              </a:rPr>
              <a:t>Возврат к отложенным проверкам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ECB9C-77BD-4FC9-9B26-E5504385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10201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Android и полный L2 после отдельного продолжения владельца.</a:t>
            </a:r>
          </a:p>
          <a:p xmlns:a="http://schemas.openxmlformats.org/drawingml/2006/main">
            <a:pPr>
              <a:defRPr sz="1950" b="0">
                <a:solidFill>
                  <a:srgbClr val="122D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D48"/>
                </a:solidFill>
                <a:latin typeface="Arial"/>
                <a:ea typeface="Arial"/>
                <a:cs typeface="Arial"/>
              </a:rPr>
              <a:t>Формальная G05 после следующей полностью принятой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424037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2026-10-25T10:27:57.3810000Z</dcterms:created>
  <dcterms:modified xsi:type="dcterms:W3CDTF">2026-10-25T10:27:57.3810000Z</dcterms:modified>
</coreProperties>
</file>